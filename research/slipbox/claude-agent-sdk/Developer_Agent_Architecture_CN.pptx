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C15937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54864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5486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C"/>
                </a:solidFill>
              </a:rPr>
              <a:t>Agent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64592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645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Context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0" y="164592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645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Bash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645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Memory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0" cy="54864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1371600"/>
            <a:ext cx="2468880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371600"/>
            <a:ext cx="2468880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1371600"/>
            <a:ext cx="0" cy="27432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1371600"/>
            <a:ext cx="0" cy="27432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26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C"/>
                </a:solidFill>
              </a:rPr>
              <a:t>构建自主Agent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Claude Agent SDK 与 Anthropic 哲学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0" y="29260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基于 Thariq Shihipar 的 "Claude Agent SDK Workshop"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一个超越工具的框架，通过 Unix 原语和文件系统构建自己上下文的 Agent。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C"/>
                </a:solidFill>
              </a:rPr>
              <a:t>AI集成的演进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从无状态特性到自主轨迹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Level 1: 特性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5937"/>
                </a:solidFill>
              </a:rPr>
              <a:t>无状态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一次性任务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分类、摘要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2377440" cy="320040"/>
          </a:xfrm>
          <a:prstGeom prst="roundRect">
            <a:avLst>
              <a:gd name="adj" fmla="val 8571"/>
            </a:avLst>
          </a:prstGeom>
          <a:solidFill>
            <a:srgbClr val="EEEEE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61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"将邮件标记为垃圾邮件"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2103120"/>
            <a:ext cx="457200" cy="27432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1463040"/>
            <a:ext cx="256032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Level 2: 工作流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5937"/>
                </a:solidFill>
              </a:rPr>
              <a:t>确定性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结构化循环、RAG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固定逻辑流程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2743200"/>
            <a:ext cx="2377440" cy="320040"/>
          </a:xfrm>
          <a:prstGeom prst="roundRect">
            <a:avLst>
              <a:gd name="adj" fmla="val 8571"/>
            </a:avLst>
          </a:prstGeom>
          <a:solidFill>
            <a:srgbClr val="EE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2761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"建议下一个编辑"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2103120"/>
            <a:ext cx="457200" cy="27432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1463040"/>
            <a:ext cx="210312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C15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937"/>
                </a:solidFill>
              </a:rPr>
              <a:t>Level 3: Agent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5937"/>
                </a:solidFill>
              </a:rPr>
              <a:t>自主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2148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上下文构建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轨迹决策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长时运行(10-30min)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49440" y="2743200"/>
            <a:ext cx="1920240" cy="320040"/>
          </a:xfrm>
          <a:prstGeom prst="roundRect">
            <a:avLst>
              <a:gd name="adj" fmla="val 8571"/>
            </a:avLst>
          </a:prstGeom>
          <a:solidFill>
            <a:srgbClr val="FDE8E4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2761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"重构遗留模块"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C"/>
                </a:solidFill>
              </a:rPr>
              <a:t>Anthropic 方法论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15937"/>
                </a:solidFill>
              </a:rPr>
              <a:t>基于 Claude Code 经验构建的技术栈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Anthropic 工程师发现自己在反复重建相同的框架。SDK 基于三个核心支柱封装了这个框架：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74320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C"/>
                </a:solidFill>
              </a:rPr>
              <a:t>&gt;_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</a:rPr>
              <a:t>Unix 原语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Agent 应该使用标准接口如 Bash 和文件系统，而不是为每个操作构建脆弱的自定义工具。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74320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011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C"/>
                </a:solidFill>
              </a:rPr>
              <a:t>[ ]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56616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</a:rPr>
              <a:t>上下文工程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9260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上下文不仅仅是聊天历史；它是文件系统的状态。Agent 必须通过文件管理自己的状态。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920240"/>
            <a:ext cx="274320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011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C"/>
                </a:solidFill>
              </a:rPr>
              <a:t>{ }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9224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</a:rPr>
              <a:t>代码生成逻辑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29260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使用代码生成来解决推理问题，而不是依赖 LLM "猜测"输出。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C"/>
                </a:solidFill>
              </a:rPr>
              <a:t>核心 Agent 循环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可靠的 Agent 在持续的 收集-行动-验证 循环中运行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收集上下文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Grep, Search, Read Files, SQL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问题: 用户经常倾倒上下文。Agent 需要工具来探索。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验证工作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Lint, Compile, Check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5937"/>
                </a:solidFill>
              </a:rPr>
              <a:t>规则: 如果不能验证工作，它就不应该是自主 Agent。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0" y="1645920"/>
            <a:ext cx="2743200" cy="219456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C15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560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</a:rPr>
              <a:t>自主循环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210312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E8E8E8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执行行动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06640" y="2514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Bash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APIs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方法: 利用代码生成或 Bash 进行灵活执行。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C"/>
                </a:solidFill>
              </a:rPr>
              <a:t>行动三位一体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在工具、Bash 和代码生成之间选择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92608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方法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最适合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优点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缺点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结构化工具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原子性、安全操作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(如发送邮件)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高度结构化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可靠、快速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高上下文使用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低可组合性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15937"/>
                          </a:solidFill>
                        </a:rPr>
                        <a:t>Bash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导航、文件操作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管道数据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低上下文使用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高度可组合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(grep | wc -l)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发现延迟较高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(需要 --help)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代码生成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复杂推理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数据分析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最大灵活性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动态逻辑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最高延迟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(需要编译)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1C1C"/>
                </a:solidFill>
              </a:rPr>
              <a:t>Bash 就是你所需要的一切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Bash 作为 Agent 推理的通用连接器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</a:rPr>
              <a:t>概念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Bash 是最初的"代码模式"。它允许 Agent 使用现有软件，而不是为每个能力构建自定义工具。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5937"/>
                </a:solidFill>
              </a:rPr>
              <a:t>  记忆: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将结果存储到文件
</a:t>
            </a:r>
            <a:pPr indent="0" marL="0">
              <a:buNone/>
            </a:pPr>
            <a:r>
              <a:rPr lang="en-US" sz="1200" b="1" dirty="0">
                <a:solidFill>
                  <a:srgbClr val="C15937"/>
                </a:solidFill>
              </a:rPr>
              <a:t>  可组合性: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管道输出
</a:t>
            </a:r>
            <a:pPr indent="0" marL="0">
              <a:buNone/>
            </a:pPr>
            <a:r>
              <a:rPr lang="en-US" sz="1200" b="1" dirty="0">
                <a:solidFill>
                  <a:srgbClr val="C15937"/>
                </a:solidFill>
              </a:rPr>
              <a:t>  软件访问: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ffmpeg, jq, sqlite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114800" cy="2560320"/>
          </a:xfrm>
          <a:prstGeom prst="roundRect">
            <a:avLst>
              <a:gd name="adj" fmla="val 1786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46304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large_data.csv | awk -F,
</a:t>
            </a:r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'$3 &gt; 100 {print $1}' &gt; high_value.txt
</a:t>
            </a:r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sqlite3 data.db "SELECT * FROM
</a:t>
            </a:r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sales WHERE region='US'"
</a:t>
            </a:r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ffmpeg -i input.mp4 -ss 00:00:10
</a:t>
            </a:r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-t 00:00:20 output.mp4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4023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Anthropic 方式: 使用标准 Unix 原语，而不是自定义的 "搜索 CSV" 工具。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C"/>
                </a:solidFill>
              </a:rPr>
              <a:t>上下文工程与文件系统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文件系统是 Agent 的长期记忆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91440" cy="1097280"/>
          </a:xfrm>
          <a:prstGeom prst="rect">
            <a:avLst/>
          </a:prstGeom>
          <a:solidFill>
            <a:srgbClr val="C1593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5937"/>
                </a:solidFill>
              </a:rPr>
              <a:t>渐进式上下文披露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Agent "cd" 进入目录，只在需要时发现相关文件，防止上下文窗口溢出。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91440" cy="1097280"/>
          </a:xfrm>
          <a:prstGeom prst="rect">
            <a:avLst/>
          </a:prstGeom>
          <a:solidFill>
            <a:srgbClr val="C1593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5937"/>
                </a:solidFill>
              </a:rPr>
              <a:t>处理长输出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不要将 500 行 API JSON 倾倒到聊天中。将其写入文件，然后让 Agent grep 它需要的特定行。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411480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5448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/project_root
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/data
</a:t>
            </a:r>
            <a:pPr indent="0" marL="0">
              <a:buNone/>
            </a:pPr>
            <a:r>
              <a:rPr lang="en-US" sz="1000" dirty="0">
                <a:solidFill>
                  <a:srgbClr val="C15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output.json</a:t>
            </a:r>
            <a:pPr indent="0" marL="0">
              <a:buNone/>
            </a:pPr>
            <a:r>
              <a:rPr lang="en-US" sz="900" dirty="0">
                <a:solidFill>
                  <a:srgbClr val="C15937"/>
                </a:solidFill>
              </a:rPr>
              <a:t>  ← 记忆库
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logs.txt
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/skills
</a:t>
            </a:r>
            <a:pPr indent="0" marL="0">
              <a:buNone/>
            </a:pPr>
            <a:r>
              <a:rPr lang="en-US" sz="1000" dirty="0">
                <a:solidFill>
                  <a:srgbClr val="C15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skills.md</a:t>
            </a:r>
            <a:pPr indent="0" marL="0">
              <a:buNone/>
            </a:pPr>
            <a:r>
              <a:rPr lang="en-US" sz="900" dirty="0">
                <a:solidFill>
                  <a:srgbClr val="C15937"/>
                </a:solidFill>
              </a:rPr>
              <a:t>  ← 能力
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postgres_query.py
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/src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</a:rPr>
              <a:t>策略：用代码生成解决非编码任务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使用编码逻辑解决通用业务问题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转换流程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7432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5937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请求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(自然语言)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任务: 围绕妙蛙花构建一个竞技宝可梦团队。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011680"/>
            <a:ext cx="365760" cy="22860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12" name="Shape 10"/>
          <p:cNvSpPr/>
          <p:nvPr/>
        </p:nvSpPr>
        <p:spPr>
          <a:xfrm>
            <a:off x="3749040" y="1554480"/>
            <a:ext cx="27432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5937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Agent 逻辑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1600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(代码生成)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0" y="19659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Agent 编写 SDK 查询 PokeAPI。它不猜测数据；它获取数据。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2011680"/>
            <a:ext cx="365760" cy="22860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18" name="Shape 16"/>
          <p:cNvSpPr/>
          <p:nvPr/>
        </p:nvSpPr>
        <p:spPr>
          <a:xfrm>
            <a:off x="7040880" y="1554480"/>
            <a:ext cx="1920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5937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06640" y="1600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输出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63840" y="1600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(数据驱动)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0" y="19659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数据可视化结果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模式推广: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5937"/>
                </a:solidFill>
              </a:rPr>
              <a:t>  查询: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不要阅读 100 封邮件。编写脚本按发送者过滤并汇总价格。
</a:t>
            </a:r>
            <a:pPr indent="0" marL="0">
              <a:buNone/>
            </a:pPr>
            <a:r>
              <a:rPr lang="en-US" sz="1200" b="1" dirty="0">
                <a:solidFill>
                  <a:srgbClr val="C15937"/>
                </a:solidFill>
              </a:rPr>
              <a:t>  数据趋势: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不要发现趋势。编写 Python 绘制数据图表。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C"/>
                </a:solidFill>
              </a:rPr>
              <a:t>关键步骤：验证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如果你不能验证它，就不要为它构建自主 Agent。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0" y="731520"/>
            <a:ext cx="3840480" cy="1097280"/>
          </a:xfrm>
          <a:prstGeom prst="roundRect">
            <a:avLst>
              <a:gd name="adj" fmla="val 4167"/>
            </a:avLst>
          </a:prstGeom>
          <a:solidFill>
            <a:srgbClr val="C15937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0" y="822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确定性验证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0" y="11887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编译器、Linter、类型检查器。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如果代码无法编译，Agent 立即知道失败了。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12280" y="1874520"/>
            <a:ext cx="274320" cy="320040"/>
          </a:xfrm>
          <a:prstGeom prst="downArrow">
            <a:avLst/>
          </a:prstGeom>
          <a:solidFill>
            <a:srgbClr val="666666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0" y="2286000"/>
            <a:ext cx="38404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C"/>
                </a:solidFill>
              </a:rPr>
              <a:t>基于规则的验证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2743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启发式方法。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"如果写入文件，先检查文件是否存在。"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"如果输出为空，重试。"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12280" y="3429000"/>
            <a:ext cx="274320" cy="320040"/>
          </a:xfrm>
          <a:prstGeom prst="downArrow">
            <a:avLst/>
          </a:prstGeom>
          <a:solidFill>
            <a:srgbClr val="666666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3840480"/>
            <a:ext cx="38404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3931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C"/>
                </a:solidFill>
              </a:rPr>
              <a:t>对抗性验证 / 子 Agent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97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使用单独的 Agent 会话来批评第一个 Agent 的工作。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C"/>
                </a:solidFill>
              </a:rPr>
              <a:t>子 Agent 与并行化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在不污染主上下文窗口的情况下扩展能力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5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Search Sheet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Sub-Agent 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5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Found: $400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73736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828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Manager Agent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148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(Clean Context)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5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Search Sheet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920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Sub-Agent 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5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Found: $200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20" y="2103120"/>
            <a:ext cx="45720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  <a:headEnd type="arrow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5760720" y="2103120"/>
            <a:ext cx="45720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  <a:headEnd type="arrow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说明: 子 Agent 执行繁杂的工作（读取数千行）。Manager 只接收干净的最终答案，保持上下文卫生。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C"/>
                </a:solidFill>
              </a:rPr>
              <a:t>安全性："瑞士奶酪"模型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缓解致命三联体：代码执行 + 文件系统 + 数据泄露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</a:rPr>
              <a:t>Threat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" y="2194560"/>
            <a:ext cx="7772400" cy="457200"/>
          </a:xfrm>
          <a:prstGeom prst="rightArrow">
            <a:avLst/>
          </a:prstGeom>
          <a:solidFill>
            <a:srgbClr val="1C1C1C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1371600"/>
            <a:ext cx="1828800" cy="2103120"/>
          </a:xfrm>
          <a:prstGeom prst="roundRect">
            <a:avLst>
              <a:gd name="adj" fmla="val 2500"/>
            </a:avLst>
          </a:prstGeom>
          <a:solidFill>
            <a:srgbClr val="E8E8E8"/>
          </a:solidFill>
          <a:ln w="25400">
            <a:solidFill>
              <a:srgbClr val="C15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</a:rPr>
              <a:t>模型层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18288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RLHF 和对齐。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拒绝做有害的事。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06240" y="1371600"/>
            <a:ext cx="1828800" cy="2103120"/>
          </a:xfrm>
          <a:prstGeom prst="roundRect">
            <a:avLst>
              <a:gd name="adj" fmla="val 2500"/>
            </a:avLst>
          </a:prstGeom>
          <a:solidFill>
            <a:srgbClr val="E8E8E8"/>
          </a:solidFill>
          <a:ln w="25400">
            <a:solidFill>
              <a:srgbClr val="C15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</a:rPr>
              <a:t>框架层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18288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权限和解析器。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在执行前解析 Bash 命令以阻止危险标志。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83680" y="1371600"/>
            <a:ext cx="2103120" cy="2103120"/>
          </a:xfrm>
          <a:prstGeom prst="roundRect">
            <a:avLst>
              <a:gd name="adj" fmla="val 2174"/>
            </a:avLst>
          </a:prstGeom>
          <a:solidFill>
            <a:srgbClr val="E8E8E8"/>
          </a:solidFill>
          <a:ln w="25400">
            <a:solidFill>
              <a:srgbClr val="C15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</a:rPr>
              <a:t>沙箱层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18288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网络隔离和监狱。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Docker/Cloudflare 容器。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如果被攻破，Agent 被困在没有生产密钥的一次性环境中。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C"/>
                </a:solidFill>
              </a:rPr>
              <a:t>原型工作流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从 CLI 到生产 SDK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28600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C15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15937"/>
                </a:solidFill>
              </a:rPr>
              <a:t>&gt;_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</a:rPr>
              <a:t>从 Claude Code 开始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在终端中手动原型化逻辑。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2103120"/>
            <a:ext cx="457200" cy="27432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1463040"/>
            <a:ext cx="228600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C15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15937"/>
                </a:solidFill>
              </a:rPr>
              <a:t>[ ]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74904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</a:rPr>
              <a:t>提取模式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24231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将成功的逻辑保存为可重用脚本或"技能"。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103120"/>
            <a:ext cx="457200" cy="27432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1463040"/>
            <a:ext cx="228600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C15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5937"/>
                </a:solidFill>
              </a:rPr>
              <a:t>SDK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7512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</a:rPr>
              <a:t>迁移到 SDK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4231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将经过验证的逻辑包装在 Agent SDK 中用于生产。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C1C1C"/>
                </a:solidFill>
              </a:rPr>
              <a:t>"简单不等于容易。" 最终的 Agent 代码应该很小；智能在于提示和文件结构。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</a:rPr>
              <a:t>Agent 工程师的心智模型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构建和调试自主系统的基本规则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29768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937"/>
                </a:solidFill>
              </a:rPr>
              <a:t>阅读</a:t>
            </a:r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日志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调试 Agent 循环的唯一方法是逐行阅读日志。查找幻觉、工具误用和细微偏差。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agent.log | tail -f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41148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保持 </a:t>
            </a:r>
            <a:pPr indent="0" marL="0">
              <a:buNone/>
            </a:pPr>
            <a:r>
              <a:rPr lang="en-US" sz="1400" b="1" dirty="0">
                <a:solidFill>
                  <a:srgbClr val="C15937"/>
                </a:solidFill>
              </a:rPr>
              <a:t>Bash 风格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默认使用 Bash/文件。只对原子安全性使用自定义工具。过度工程化会导致脆弱性和安全风险。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23317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rm -rf /tmp/sandbox/*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29768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为</a:t>
            </a:r>
            <a:pPr indent="0" marL="0">
              <a:buNone/>
            </a:pPr>
            <a:r>
              <a:rPr lang="en-US" sz="1400" b="1" dirty="0">
                <a:solidFill>
                  <a:srgbClr val="C15937"/>
                </a:solidFill>
              </a:rPr>
              <a:t>可逆性</a:t>
            </a:r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设计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Agent 在可逆环境（Git、编码）中表现出色。优先选择错误可以轻松撤销的环境。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git reset --hard HEAD~1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2834640"/>
            <a:ext cx="41148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926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937"/>
                </a:solidFill>
              </a:rPr>
              <a:t>丢弃</a:t>
            </a:r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代码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291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Agent 能力发展很快；每 6 个月重写你的框架。遗留框架很快成为技术债务。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38862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rm harness_v1.py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</a:rPr>
              <a:t>将哲学应用于实践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超越简单编码助手的用例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电子表格 Agent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问题: 搜索 10 万行。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解决方案: Agent 将 CSV 转换为 </a:t>
            </a:r>
            <a:pPr indent="0" marL="0">
              <a:buNone/>
            </a:pPr>
            <a:r>
              <a:rPr lang="en-US" sz="1000" b="1" dirty="0">
                <a:solidFill>
                  <a:srgbClr val="C15937"/>
                </a:solidFill>
              </a:rPr>
              <a:t>SQLite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 或 </a:t>
            </a:r>
            <a:pPr indent="0" marL="0">
              <a:buNone/>
            </a:pPr>
            <a:r>
              <a:rPr lang="en-US" sz="1000" b="1" dirty="0">
                <a:solidFill>
                  <a:srgbClr val="C15937"/>
                </a:solidFill>
              </a:rPr>
              <a:t>Python 脚本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 进行过滤。</a:t>
            </a:r>
            <a:pPr indent="0" marL="0">
              <a:buNone/>
            </a:pPr>
            <a:r>
              <a:rPr lang="en-US" sz="1000" b="1" dirty="0">
                <a:solidFill>
                  <a:srgbClr val="C15937"/>
                </a:solidFill>
              </a:rPr>
              <a:t>永远不加载整个表格。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仪表板构建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问题: 动态 UI。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解决方案: Agent 在沙箱内</a:t>
            </a:r>
            <a:pPr indent="0" marL="0">
              <a:buNone/>
            </a:pPr>
            <a:r>
              <a:rPr lang="en-US" sz="1000" b="1" dirty="0">
                <a:solidFill>
                  <a:srgbClr val="C15937"/>
                </a:solidFill>
              </a:rPr>
              <a:t>运行本地开发服务器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（React/Vite）；用户看到</a:t>
            </a:r>
            <a:pPr indent="0" marL="0">
              <a:buNone/>
            </a:pPr>
            <a:r>
              <a:rPr lang="en-US" sz="1000" b="1" dirty="0">
                <a:solidFill>
                  <a:srgbClr val="C15937"/>
                </a:solidFill>
              </a:rPr>
              <a:t>实时预览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更新。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网络安全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问题: 日志分析。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解决方案: Agent 使用 </a:t>
            </a:r>
            <a:pPr indent="0" marL="0">
              <a:buNone/>
            </a:pPr>
            <a:r>
              <a:rPr lang="en-US" sz="1000" b="1" dirty="0">
                <a:solidFill>
                  <a:srgbClr val="C15937"/>
                </a:solidFill>
              </a:rPr>
              <a:t>Bash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 来 `grep` 日志、隔离模式并</a:t>
            </a:r>
            <a:pPr indent="0" marL="0">
              <a:buNone/>
            </a:pPr>
            <a:r>
              <a:rPr lang="en-US" sz="1000" b="1" dirty="0">
                <a:solidFill>
                  <a:srgbClr val="C15937"/>
                </a:solidFill>
              </a:rPr>
              <a:t>总结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威胁。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3108960"/>
            <a:ext cx="3840480" cy="1005840"/>
          </a:xfrm>
          <a:prstGeom prst="roundRect">
            <a:avLst>
              <a:gd name="adj" fmla="val 2727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32004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威胁摘要: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IP 192.168.1.50: 50 次失败登录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检测到潜在暴力破解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571500"/>
          </a:xfrm>
          <a:prstGeom prst="rect">
            <a:avLst/>
          </a:prstGeom>
          <a:solidFill>
            <a:srgbClr val="C159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1C1C"/>
                </a:solidFill>
              </a:rPr>
              <a:t>未来：构建自己上下文的 Agent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15937"/>
                </a:solidFill>
              </a:rPr>
              <a:t>GATHER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15937"/>
                </a:solidFill>
              </a:rPr>
              <a:t>ACT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15937"/>
                </a:solidFill>
              </a:rPr>
              <a:t>VERIFY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摆脱僵化的工作流。拥抱开发者工具。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开始使用 SDK 构建，使用沙箱，记住：Bash 就是你所需要的一切。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Resources: Claude Agent SDK  |  Anthropic Workshop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Developer Agent Architecture</dc:title>
  <dc:subject>PptxGenJS Presentation</dc:subject>
  <dc:creator>Based on Thariq Shihipar Workshop</dc:creator>
  <cp:lastModifiedBy>Based on Thariq Shihipar Workshop</cp:lastModifiedBy>
  <cp:revision>1</cp:revision>
  <dcterms:created xsi:type="dcterms:W3CDTF">2026-01-29T07:18:52Z</dcterms:created>
  <dcterms:modified xsi:type="dcterms:W3CDTF">2026-01-29T07:18:52Z</dcterms:modified>
</cp:coreProperties>
</file>